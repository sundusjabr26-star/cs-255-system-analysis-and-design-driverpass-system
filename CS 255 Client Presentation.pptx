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8" r:id="rId2"/>
    <p:sldId id="260" r:id="rId3"/>
    <p:sldId id="261" r:id="rId4"/>
    <p:sldId id="267" r:id="rId5"/>
    <p:sldId id="263" r:id="rId6"/>
    <p:sldId id="265" r:id="rId7"/>
    <p:sldId id="270" r:id="rId8"/>
  </p:sldIdLst>
  <p:sldSz cx="12192000" cy="6858000"/>
  <p:notesSz cx="6858000" cy="9144000"/>
  <p:custDataLst>
    <p:tags r:id="rId1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6" autoAdjust="0"/>
    <p:restoredTop sz="65796" autoAdjust="0"/>
  </p:normalViewPr>
  <p:slideViewPr>
    <p:cSldViewPr snapToGrid="0">
      <p:cViewPr varScale="1">
        <p:scale>
          <a:sx n="46" d="100"/>
          <a:sy n="46" d="100"/>
        </p:scale>
        <p:origin x="22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presentation provides an overview of the </a:t>
            </a:r>
            <a:r>
              <a:rPr lang="en-GB" dirty="0" err="1"/>
              <a:t>DriverPass</a:t>
            </a:r>
            <a:r>
              <a:rPr lang="en-GB" dirty="0"/>
              <a:t> system design. The system is designed to help customers prepare for driving tests by offering scheduling, training, and practice test services. The goal is to create a system that is easy to use, reliable, and meets both customer and business needs.</a:t>
            </a:r>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system allows users to create accounts and access services anytime. Customers can schedule lessons and take practice tests to prepare for their driving exams. The system is designed to be reliable and always available. It is also built with strong security to protect user information, while remaining simple and easy to use.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diagram shows how different users interact with the system. Customers can register, log in, schedule lessons, and take practice tests. Administrators manage users and system content, while instructors manage lesson schedules. This ensures that all users can perform their required tasks efficiently.</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diagram shows the step-by-step process of completing a task, such as scheduling a lesson. It starts with the user logging in, selecting a lesson, choosing a time, and confirming the booking. The system checks availability and provides confirmation. This ensures a smooth and user-friendly experience.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Security is very important in this system. Users must log in securely before accessing services. Sensitive information such as personal details and payments is protected through encryption. Different users have different access levels to prevent unauthorized actions. These measures ensure user data is safe and secure.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Although the system is effective, it has some limitations. Users need internet access to use the system. If the server is down, services may not be available. The system will also need regular updates to improve performance and add new features. These limitations are common in most online systems.</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conclusion, the </a:t>
            </a:r>
            <a:r>
              <a:rPr lang="en-GB" dirty="0" err="1"/>
              <a:t>DriverPass</a:t>
            </a:r>
            <a:r>
              <a:rPr lang="en-GB" dirty="0"/>
              <a:t> system is designed to be simple, secure, and effective. It meets the needs of customers by providing easy access to learning and scheduling tools. It also supports business operations efficiently. The system can be expanded in the future as the company grows.</a:t>
            </a:r>
          </a:p>
        </p:txBody>
      </p:sp>
      <p:sp>
        <p:nvSpPr>
          <p:cNvPr id="4" name="Slide Number Placeholder 3"/>
          <p:cNvSpPr>
            <a:spLocks noGrp="1"/>
          </p:cNvSpPr>
          <p:nvPr>
            <p:ph type="sldNum" sz="quarter" idx="5"/>
          </p:nvPr>
        </p:nvSpPr>
        <p:spPr/>
        <p:txBody>
          <a:bodyPr/>
          <a:lstStyle/>
          <a:p>
            <a:fld id="{E0746DE6-3336-457D-A091-FA20AC1C536E}" type="slidenum">
              <a:rPr lang="en-US" smtClean="0"/>
              <a:t>7</a:t>
            </a:fld>
            <a:endParaRPr lang="en-US"/>
          </a:p>
        </p:txBody>
      </p:sp>
    </p:spTree>
    <p:extLst>
      <p:ext uri="{BB962C8B-B14F-4D97-AF65-F5344CB8AC3E}">
        <p14:creationId xmlns:p14="http://schemas.microsoft.com/office/powerpoint/2010/main" val="10365272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4/20/2026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sz="3200" dirty="0">
                <a:solidFill>
                  <a:srgbClr val="FFFFFF"/>
                </a:solidFill>
              </a:rPr>
              <a:t>Sundus Jabr</a:t>
            </a:r>
            <a:endParaRPr sz="3200"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5314547" y="801866"/>
            <a:ext cx="6447961" cy="5230634"/>
          </a:xfrm>
        </p:spPr>
        <p:txBody>
          <a:bodyPr anchor="ctr">
            <a:normAutofit/>
          </a:bodyPr>
          <a:lstStyle/>
          <a:p>
            <a:r>
              <a:rPr lang="en-GB" b="1" dirty="0">
                <a:solidFill>
                  <a:srgbClr val="000000"/>
                </a:solidFill>
              </a:rPr>
              <a:t>Functional Requirements:</a:t>
            </a:r>
          </a:p>
          <a:p>
            <a:pPr lvl="1"/>
            <a:r>
              <a:rPr lang="en-GB" sz="2800" dirty="0">
                <a:solidFill>
                  <a:srgbClr val="000000"/>
                </a:solidFill>
              </a:rPr>
              <a:t>Users can create accounts and log in.</a:t>
            </a:r>
          </a:p>
          <a:p>
            <a:pPr lvl="1"/>
            <a:r>
              <a:rPr lang="en-GB" sz="2800" dirty="0">
                <a:solidFill>
                  <a:srgbClr val="000000"/>
                </a:solidFill>
              </a:rPr>
              <a:t>Users can schedule driving lessons.</a:t>
            </a:r>
          </a:p>
          <a:p>
            <a:pPr lvl="1"/>
            <a:r>
              <a:rPr lang="en-GB" sz="2800" dirty="0">
                <a:solidFill>
                  <a:srgbClr val="000000"/>
                </a:solidFill>
              </a:rPr>
              <a:t>Users can take practice tests.</a:t>
            </a:r>
          </a:p>
          <a:p>
            <a:r>
              <a:rPr lang="en-GB" b="1" dirty="0">
                <a:solidFill>
                  <a:srgbClr val="000000"/>
                </a:solidFill>
              </a:rPr>
              <a:t>Nonfunctional Requirements:</a:t>
            </a:r>
          </a:p>
          <a:p>
            <a:pPr lvl="1"/>
            <a:r>
              <a:rPr lang="en-GB" sz="2800" dirty="0">
                <a:solidFill>
                  <a:srgbClr val="000000"/>
                </a:solidFill>
              </a:rPr>
              <a:t>System must be available 24/7.</a:t>
            </a:r>
          </a:p>
          <a:p>
            <a:pPr lvl="1"/>
            <a:r>
              <a:rPr lang="en-GB" sz="2800" dirty="0">
                <a:solidFill>
                  <a:srgbClr val="000000"/>
                </a:solidFill>
              </a:rPr>
              <a:t>System must be secure.</a:t>
            </a:r>
          </a:p>
          <a:p>
            <a:pPr lvl="1"/>
            <a:r>
              <a:rPr lang="en-GB" sz="2800" dirty="0">
                <a:solidFill>
                  <a:srgbClr val="000000"/>
                </a:solidFill>
              </a:rPr>
              <a:t>System must be easy to use.</a:t>
            </a:r>
            <a:endParaRPr sz="28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0" y="2053641"/>
            <a:ext cx="2223655" cy="2760098"/>
          </a:xfrm>
        </p:spPr>
        <p:txBody>
          <a:bodyPr>
            <a:normAutofit/>
          </a:bodyPr>
          <a:lstStyle/>
          <a:p>
            <a:r>
              <a:rPr lang="en-US" dirty="0">
                <a:solidFill>
                  <a:schemeClr val="bg1"/>
                </a:solidFill>
              </a:rPr>
              <a:t>Use Case Diagram</a:t>
            </a:r>
          </a:p>
        </p:txBody>
      </p:sp>
      <p:pic>
        <p:nvPicPr>
          <p:cNvPr id="5" name="Picture 4">
            <a:extLst>
              <a:ext uri="{FF2B5EF4-FFF2-40B4-BE49-F238E27FC236}">
                <a16:creationId xmlns:a16="http://schemas.microsoft.com/office/drawing/2014/main" id="{7F4ACBF8-A118-D261-31E4-A39BED2A43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23655" y="914400"/>
            <a:ext cx="9767454" cy="4992529"/>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a:extLst>
              <a:ext uri="{FF2B5EF4-FFF2-40B4-BE49-F238E27FC236}">
                <a16:creationId xmlns:a16="http://schemas.microsoft.com/office/drawing/2014/main" id="{A00C74CB-8D43-7FE7-D310-BFA639634C30}"/>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2701637" y="893618"/>
            <a:ext cx="8899064" cy="4800600"/>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5694218" y="801866"/>
            <a:ext cx="5702440" cy="5230634"/>
          </a:xfrm>
        </p:spPr>
        <p:txBody>
          <a:bodyPr anchor="ctr">
            <a:normAutofit/>
          </a:bodyPr>
          <a:lstStyle/>
          <a:p>
            <a:r>
              <a:rPr lang="en-GB" sz="3200" dirty="0">
                <a:solidFill>
                  <a:srgbClr val="000000"/>
                </a:solidFill>
              </a:rPr>
              <a:t>Secure user login and authentication.</a:t>
            </a:r>
          </a:p>
          <a:p>
            <a:r>
              <a:rPr lang="en-GB" sz="3200" dirty="0">
                <a:solidFill>
                  <a:srgbClr val="000000"/>
                </a:solidFill>
              </a:rPr>
              <a:t>Data encryption for sensitive information.</a:t>
            </a:r>
          </a:p>
          <a:p>
            <a:r>
              <a:rPr lang="en-GB" sz="3200" dirty="0">
                <a:solidFill>
                  <a:srgbClr val="000000"/>
                </a:solidFill>
              </a:rPr>
              <a:t>Role-based access control.</a:t>
            </a:r>
          </a:p>
          <a:p>
            <a:r>
              <a:rPr lang="en-GB" sz="3200" dirty="0">
                <a:solidFill>
                  <a:srgbClr val="000000"/>
                </a:solidFill>
              </a:rPr>
              <a:t>Secure payment processing</a:t>
            </a:r>
            <a:endParaRPr sz="32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5507182" y="801866"/>
            <a:ext cx="5889476" cy="5230634"/>
          </a:xfrm>
        </p:spPr>
        <p:txBody>
          <a:bodyPr anchor="ctr">
            <a:normAutofit/>
          </a:bodyPr>
          <a:lstStyle/>
          <a:p>
            <a:r>
              <a:rPr lang="en-GB" sz="3200" dirty="0">
                <a:solidFill>
                  <a:srgbClr val="000000"/>
                </a:solidFill>
              </a:rPr>
              <a:t>Requires internet connection.</a:t>
            </a:r>
          </a:p>
          <a:p>
            <a:r>
              <a:rPr lang="en-GB" sz="3200" dirty="0">
                <a:solidFill>
                  <a:srgbClr val="000000"/>
                </a:solidFill>
              </a:rPr>
              <a:t>Dependent on system server availability.</a:t>
            </a:r>
          </a:p>
          <a:p>
            <a:r>
              <a:rPr lang="en-GB" sz="3200" dirty="0">
                <a:solidFill>
                  <a:srgbClr val="000000"/>
                </a:solidFill>
              </a:rPr>
              <a:t>Limited functionality during outages.</a:t>
            </a:r>
          </a:p>
          <a:p>
            <a:r>
              <a:rPr lang="en-GB" sz="3200" dirty="0">
                <a:solidFill>
                  <a:srgbClr val="000000"/>
                </a:solidFill>
              </a:rPr>
              <a:t>Requires regular updates and maintenance</a:t>
            </a:r>
            <a:endParaRPr sz="32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728CA-2FCF-B4CF-3DB1-2538616A38F7}"/>
              </a:ext>
            </a:extLst>
          </p:cNvPr>
          <p:cNvSpPr>
            <a:spLocks noGrp="1"/>
          </p:cNvSpPr>
          <p:nvPr>
            <p:ph type="title"/>
          </p:nvPr>
        </p:nvSpPr>
        <p:spPr/>
        <p:txBody>
          <a:bodyPr/>
          <a:lstStyle/>
          <a:p>
            <a:pPr algn="ctr"/>
            <a:r>
              <a:rPr lang="en-GB" b="1" dirty="0"/>
              <a:t>Conclusion</a:t>
            </a:r>
          </a:p>
        </p:txBody>
      </p:sp>
      <p:sp>
        <p:nvSpPr>
          <p:cNvPr id="3" name="Content Placeholder 2">
            <a:extLst>
              <a:ext uri="{FF2B5EF4-FFF2-40B4-BE49-F238E27FC236}">
                <a16:creationId xmlns:a16="http://schemas.microsoft.com/office/drawing/2014/main" id="{FE072ED5-B404-EB7A-C352-F0E7B4433E3F}"/>
              </a:ext>
            </a:extLst>
          </p:cNvPr>
          <p:cNvSpPr>
            <a:spLocks noGrp="1"/>
          </p:cNvSpPr>
          <p:nvPr>
            <p:ph idx="1"/>
          </p:nvPr>
        </p:nvSpPr>
        <p:spPr/>
        <p:txBody>
          <a:bodyPr>
            <a:normAutofit/>
          </a:bodyPr>
          <a:lstStyle/>
          <a:p>
            <a:r>
              <a:rPr lang="en-GB" sz="3600" dirty="0"/>
              <a:t>Simple and user-friendly system.</a:t>
            </a:r>
          </a:p>
          <a:p>
            <a:r>
              <a:rPr lang="en-GB" sz="3600" dirty="0"/>
              <a:t>Meets customer and business needs.</a:t>
            </a:r>
          </a:p>
          <a:p>
            <a:r>
              <a:rPr lang="en-GB" sz="3600" dirty="0"/>
              <a:t>Secure and reliable.</a:t>
            </a:r>
          </a:p>
          <a:p>
            <a:r>
              <a:rPr lang="en-GB" sz="3600" dirty="0"/>
              <a:t>Supports future growth</a:t>
            </a:r>
          </a:p>
        </p:txBody>
      </p:sp>
    </p:spTree>
    <p:extLst>
      <p:ext uri="{BB962C8B-B14F-4D97-AF65-F5344CB8AC3E}">
        <p14:creationId xmlns:p14="http://schemas.microsoft.com/office/powerpoint/2010/main" val="20562077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1358</TotalTime>
  <Words>514</Words>
  <Application>Microsoft Office PowerPoint</Application>
  <PresentationFormat>Widescreen</PresentationFormat>
  <Paragraphs>42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Folio</cp:lastModifiedBy>
  <cp:revision>21</cp:revision>
  <dcterms:created xsi:type="dcterms:W3CDTF">2019-10-14T02:36:52Z</dcterms:created>
  <dcterms:modified xsi:type="dcterms:W3CDTF">2026-04-20T02:00:40Z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